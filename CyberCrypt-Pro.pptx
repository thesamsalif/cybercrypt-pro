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image" Target="../media/image-11-1.png"/><Relationship Id="rId8" Type="http://schemas.openxmlformats.org/officeDocument/2006/relationships/image" Target="../media/image-11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3924" y="1954411"/>
            <a:ext cx="4423657" cy="294917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655737"/>
            <a:ext cx="5290013" cy="20552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086" y="2900065"/>
            <a:ext cx="6223638" cy="4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CyberCrypt Pro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698086" y="3525441"/>
            <a:ext cx="6833223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Multi-Layer Secure Text Encryption System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Learn Encryption by Seeing Every Layer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591230" y="3886696"/>
            <a:ext cx="3144560" cy="1132582"/>
          </a:xfrm>
          <a:prstGeom prst="roundRect">
            <a:avLst>
              <a:gd name="adj" fmla="val 1965"/>
            </a:avLst>
          </a:prstGeom>
          <a:solidFill>
            <a:srgbClr val="252833"/>
          </a:solidFill>
          <a:ln/>
        </p:spPr>
      </p:sp>
      <p:sp>
        <p:nvSpPr>
          <p:cNvPr id="8" name="Text 4"/>
          <p:cNvSpPr/>
          <p:nvPr/>
        </p:nvSpPr>
        <p:spPr>
          <a:xfrm>
            <a:off x="739558" y="4012803"/>
            <a:ext cx="2847904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39558" y="4281289"/>
            <a:ext cx="2847904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Sams Alif</a:t>
            </a:r>
            <a:endParaRPr lang="en-US" sz="16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ID: 221902392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997225" y="4012803"/>
            <a:ext cx="293084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Course Details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997225" y="4356993"/>
            <a:ext cx="2930849" cy="548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 Code : CSE-323 Cybersecurity &amp; Cryptography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98086" y="5208389"/>
            <a:ext cx="622363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Presented To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8086" y="5476875"/>
            <a:ext cx="6223638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Md. Mahbubur Rahman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98086" y="5927725"/>
            <a:ext cx="6833223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Lecturer, CSE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7661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This Project?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838920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cryptography demonstrations operate as black boxes — the learner sees input and output, but never the transformation in between. CyberCrypt Pro was built to break that barrier.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2790031"/>
            <a:ext cx="1677251" cy="265113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2759" y="2842320"/>
            <a:ext cx="2077489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APPROACH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98086" y="3124895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Black Box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086" y="3556099"/>
            <a:ext cx="5184844" cy="1273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Plain Text → </a:t>
            </a:r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[BLACK BOX]</a:t>
            </a:r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Cipher Text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learner observes only the boundary conditions. The mechanics — substitution, shifting, XOR — remain entirely hidden. Understanding cannot be built from opacity.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89408" y="2593677"/>
            <a:ext cx="5436258" cy="2393355"/>
          </a:xfrm>
          <a:prstGeom prst="roundRect">
            <a:avLst>
              <a:gd name="adj" fmla="val 1094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363930" y="2790031"/>
            <a:ext cx="1244668" cy="265113"/>
          </a:xfrm>
          <a:prstGeom prst="roundRect">
            <a:avLst>
              <a:gd name="adj" fmla="val 7901"/>
            </a:avLst>
          </a:prstGeom>
          <a:solidFill>
            <a:srgbClr val="49042A"/>
          </a:solidFill>
          <a:ln/>
        </p:spPr>
      </p:sp>
      <p:sp>
        <p:nvSpPr>
          <p:cNvPr id="10" name="Text 8"/>
          <p:cNvSpPr/>
          <p:nvPr/>
        </p:nvSpPr>
        <p:spPr>
          <a:xfrm>
            <a:off x="6468603" y="2842320"/>
            <a:ext cx="1644907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CYBERCRYPT PRO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63930" y="3124895"/>
            <a:ext cx="508721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Transparency Pipeline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3930" y="3556099"/>
            <a:ext cx="5087215" cy="99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Plain Text → </a:t>
            </a:r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Caesar</a:t>
            </a:r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Vigenère</a:t>
            </a:r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Random XOR</a:t>
            </a:r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Cipher Text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transformation is visible, labeled, and explained in real time. The learner watches each layer apply its logic step by step.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8086" y="5183386"/>
            <a:ext cx="10795524" cy="697905"/>
          </a:xfrm>
          <a:prstGeom prst="roundRect">
            <a:avLst>
              <a:gd name="adj" fmla="val 3751"/>
            </a:avLst>
          </a:prstGeom>
          <a:solidFill>
            <a:srgbClr val="79064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607" y="5432822"/>
            <a:ext cx="218177" cy="17452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65305" y="5401469"/>
            <a:ext cx="1066336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thesis: </a:t>
            </a:r>
            <a:pPr algn="l" indent="0" marL="0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Learning by visualization</a:t>
            </a:r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not just producing ciphertext. The goal is comprehension, not confidentiality.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59321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Goal &amp; Scope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448991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Primary Objectives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98086" y="1779984"/>
            <a:ext cx="314119" cy="31412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5" name="Text 3"/>
          <p:cNvSpPr/>
          <p:nvPr/>
        </p:nvSpPr>
        <p:spPr>
          <a:xfrm>
            <a:off x="756623" y="1813868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23823" y="1827907"/>
            <a:ext cx="480167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Demonstrate multi-layer encryption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3823" y="2144911"/>
            <a:ext cx="4801671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classical ciphers composed sequentially into a single pipeline.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8086" y="2569270"/>
            <a:ext cx="314119" cy="31412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9" name="Text 7"/>
          <p:cNvSpPr/>
          <p:nvPr/>
        </p:nvSpPr>
        <p:spPr>
          <a:xfrm>
            <a:off x="756623" y="2603153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23823" y="2617192"/>
            <a:ext cx="480167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Visualize reverse-order decryption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23823" y="2934196"/>
            <a:ext cx="4801671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Decryption reverses the exact encryption order, illustrating invertibility.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8086" y="3358555"/>
            <a:ext cx="314119" cy="31412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3" name="Text 11"/>
          <p:cNvSpPr/>
          <p:nvPr/>
        </p:nvSpPr>
        <p:spPr>
          <a:xfrm>
            <a:off x="756623" y="3392438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23823" y="3406477"/>
            <a:ext cx="480167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Show every transformation step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3823" y="3723481"/>
            <a:ext cx="4801671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Intermediate states between layers are exposed and annotated.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8086" y="4147840"/>
            <a:ext cx="314119" cy="31412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7" name="Text 15"/>
          <p:cNvSpPr/>
          <p:nvPr/>
        </p:nvSpPr>
        <p:spPr>
          <a:xfrm>
            <a:off x="756623" y="4181723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23823" y="4195763"/>
            <a:ext cx="480167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educational environment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3823" y="4512766"/>
            <a:ext cx="4801671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experiment with keys, observe results, and build intuition through doing.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2552" y="1448991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Scope &amp; Constraints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72552" y="1779984"/>
            <a:ext cx="2557895" cy="1036340"/>
          </a:xfrm>
          <a:prstGeom prst="roundRect">
            <a:avLst>
              <a:gd name="adj" fmla="val 2021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1198" y="1938635"/>
            <a:ext cx="224060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Fully Offline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31198" y="2255639"/>
            <a:ext cx="2240601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network dependency whatsoever. All computation is local.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42065" y="1779984"/>
            <a:ext cx="2557895" cy="1036340"/>
          </a:xfrm>
          <a:prstGeom prst="roundRect">
            <a:avLst>
              <a:gd name="adj" fmla="val 2021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00711" y="1938635"/>
            <a:ext cx="224060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Desktop Application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00711" y="2255639"/>
            <a:ext cx="2240601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with CustomTkinter for a native desktop experience.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72552" y="2927945"/>
            <a:ext cx="5227408" cy="835323"/>
          </a:xfrm>
          <a:prstGeom prst="roundRect">
            <a:avLst>
              <a:gd name="adj" fmla="val 2507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1198" y="3086596"/>
            <a:ext cx="491011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Educational Scope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31198" y="3403600"/>
            <a:ext cx="4910114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Demonstrates classical cryptography concepts, not production security.</a:t>
            </a:r>
            <a:endParaRPr lang="en-US" sz="10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6726" y="3888879"/>
            <a:ext cx="3879058" cy="20841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89347"/>
            <a:ext cx="10795524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120080"/>
            <a:ext cx="10795524" cy="39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CyberCrypt Pro is organized into four discrete, decoupled layers. The UI and cryptographic engine are intentionally separated so that the core logic is fully testable without any graphical interface.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790" y="1644551"/>
            <a:ext cx="9176116" cy="41995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343" y="2205010"/>
            <a:ext cx="1910326" cy="23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343" y="2515840"/>
            <a:ext cx="2237359" cy="364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CustomTkinter glassmorphism UI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871365" y="3585350"/>
            <a:ext cx="1910325" cy="23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24764" y="3896181"/>
            <a:ext cx="2056926" cy="364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Screen management, navigation, session state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343" y="4298075"/>
            <a:ext cx="1910326" cy="23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Crypto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343" y="4608905"/>
            <a:ext cx="2237359" cy="364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Caesar, Vigenère, Random XOR engines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98086" y="5968702"/>
            <a:ext cx="10795524" cy="39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separation of concerns is a deliberate engineering choice: the cryptographic core can be invoked, tested, and verified entirely independently of the UI layer. This architectural discipline enabled the project's comprehensive test suite of </a:t>
            </a:r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54 automated tests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9558"/>
            <a:ext cx="10795524" cy="4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Three-Layer Encryption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8086" y="1278037"/>
            <a:ext cx="11405108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Encryption applies three ciphers sequentially in forward order. Decryption applies the exact same three operations in strict reverse order, using identical keys.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639292"/>
            <a:ext cx="3598475" cy="593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6414" y="2358827"/>
            <a:ext cx="330181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Plain Text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46414" y="2652514"/>
            <a:ext cx="3301818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input from user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560" y="1639292"/>
            <a:ext cx="3598475" cy="5934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4889" y="2358827"/>
            <a:ext cx="330181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Caesar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444889" y="2652514"/>
            <a:ext cx="3301818" cy="45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character shift</a:t>
            </a:r>
            <a:endParaRPr lang="en-US" sz="11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E(x) = (x+s) mod 128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35" y="1639292"/>
            <a:ext cx="3598475" cy="5934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3364" y="2358827"/>
            <a:ext cx="330181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Vigenère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043364" y="2652514"/>
            <a:ext cx="3301818" cy="45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Keyword-driven shifts</a:t>
            </a:r>
            <a:endParaRPr lang="en-US" sz="11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E(x) = (x+k[i]) mod 128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3252490"/>
            <a:ext cx="3598475" cy="5934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6414" y="3972024"/>
            <a:ext cx="330181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Random XOR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846414" y="4265712"/>
            <a:ext cx="3301818" cy="45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LCG keystream XOR</a:t>
            </a:r>
            <a:endParaRPr lang="en-US" sz="11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E(x) = x XOR stream(i)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560" y="3252490"/>
            <a:ext cx="3598475" cy="5934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44889" y="3972024"/>
            <a:ext cx="330181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Cipher Text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4444889" y="4265712"/>
            <a:ext cx="3301818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encrypted output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91230" y="5007471"/>
            <a:ext cx="5430503" cy="1260872"/>
          </a:xfrm>
          <a:prstGeom prst="roundRect">
            <a:avLst>
              <a:gd name="adj" fmla="val 1765"/>
            </a:avLst>
          </a:prstGeom>
          <a:solidFill>
            <a:srgbClr val="252833"/>
          </a:solidFill>
          <a:ln/>
        </p:spPr>
      </p:sp>
      <p:sp>
        <p:nvSpPr>
          <p:cNvPr id="20" name="Text 13"/>
          <p:cNvSpPr/>
          <p:nvPr/>
        </p:nvSpPr>
        <p:spPr>
          <a:xfrm>
            <a:off x="739558" y="5133578"/>
            <a:ext cx="5133847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Decryption: Exact Reverse Order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739558" y="5477768"/>
            <a:ext cx="5743431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Cipher Text → </a:t>
            </a:r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XOR⁻¹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Vigenère⁻¹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Caesar⁻¹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Plain Text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283168" y="5133578"/>
            <a:ext cx="521679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Properties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283168" y="5477768"/>
            <a:ext cx="5216791" cy="746522"/>
          </a:xfrm>
          <a:prstGeom prst="rect">
            <a:avLst/>
          </a:prstGeom>
          <a:noFill/>
          <a:ln/>
        </p:spPr>
        <p:txBody>
          <a:bodyPr wrap="square" lIns="0" tIns="59345" rIns="0" bIns="0" rtlCol="0" anchor="t">
            <a:normAutofit/>
          </a:bodyPr>
          <a:lstStyle/>
          <a:p>
            <a:pPr algn="l" marL="233680" indent="-233680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Same keys required for both directions</a:t>
            </a:r>
            <a:endParaRPr lang="en-US" sz="1150" dirty="0"/>
          </a:p>
          <a:p>
            <a:pPr algn="l" marL="233680" indent="-233680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Deterministic recovery — identical output every time</a:t>
            </a:r>
            <a:endParaRPr lang="en-US" sz="1150" dirty="0"/>
          </a:p>
          <a:p>
            <a:pPr algn="l" marL="233680" indent="-233680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 reversal is mandatory; wrong order yields garbage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1130"/>
            <a:ext cx="1079552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Three Cipher Layers — Technical Specifications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98086" y="1433810"/>
            <a:ext cx="3493504" cy="3716834"/>
          </a:xfrm>
          <a:prstGeom prst="roundRect">
            <a:avLst>
              <a:gd name="adj" fmla="val 712"/>
            </a:avLst>
          </a:prstGeom>
          <a:solidFill>
            <a:srgbClr val="444752"/>
          </a:solidFill>
          <a:ln/>
        </p:spPr>
      </p:sp>
      <p:sp>
        <p:nvSpPr>
          <p:cNvPr id="4" name="Text 2"/>
          <p:cNvSpPr/>
          <p:nvPr/>
        </p:nvSpPr>
        <p:spPr>
          <a:xfrm>
            <a:off x="863876" y="1599605"/>
            <a:ext cx="316192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Layer 1 — Caesar Cipher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3876" y="2042716"/>
            <a:ext cx="316192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876" y="2042716"/>
            <a:ext cx="3161923" cy="2899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3876" y="2531963"/>
            <a:ext cx="3161923" cy="227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character is shifted forward by a single fixed amount over the full 128-character ASCII alphabet. Modulo arithmetic handles wrap-around at the boundary.</a:t>
            </a:r>
            <a:endParaRPr lang="en-US" sz="13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HELLO + shift 3 → KHOOR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Limitation: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Only 128 possible shifts exist. Brute-force exhaustion is trivial — never deploy alone.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9046" y="1433810"/>
            <a:ext cx="3493504" cy="3716834"/>
          </a:xfrm>
          <a:prstGeom prst="roundRect">
            <a:avLst>
              <a:gd name="adj" fmla="val 712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4514836" y="1599605"/>
            <a:ext cx="316192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Layer 2 — Vigenère Cipher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14836" y="2042716"/>
            <a:ext cx="316192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36" y="2042716"/>
            <a:ext cx="3161923" cy="5798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4836" y="2821880"/>
            <a:ext cx="3161923" cy="2162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character receives a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different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shift, determined by the corresponding position in the repeating keyword. Longer keywords create more variation across the ciphertext.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Defeats: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Simple single-frequency analysis.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Limitation: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Short or repeated keywords leak periodic patterns — Kasiski examination can break it.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00006" y="1433810"/>
            <a:ext cx="3493603" cy="3716834"/>
          </a:xfrm>
          <a:prstGeom prst="roundRect">
            <a:avLst>
              <a:gd name="adj" fmla="val 712"/>
            </a:avLst>
          </a:prstGeom>
          <a:solidFill>
            <a:srgbClr val="444752"/>
          </a:solidFill>
          <a:ln/>
        </p:spPr>
      </p:sp>
      <p:sp>
        <p:nvSpPr>
          <p:cNvPr id="14" name="Text 10"/>
          <p:cNvSpPr/>
          <p:nvPr/>
        </p:nvSpPr>
        <p:spPr>
          <a:xfrm>
            <a:off x="8165796" y="1599605"/>
            <a:ext cx="316202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Layer 3 — Random XOR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165796" y="2042716"/>
            <a:ext cx="316202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4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6" y="2042716"/>
            <a:ext cx="3162022" cy="2899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65796" y="2531963"/>
            <a:ext cx="3162022" cy="1910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numeric seed drives a Linear Congruential Generator (LCG) to produce a pseudo-random keystream. Each character is XOR-ed with the next keystream value.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Key Property: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XOR is self-inverse: </a:t>
            </a:r>
            <a:pPr algn="l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(a \oplus b) \oplus b = a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Encryption and decryption use </a:t>
            </a:r>
            <a:pPr algn="l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identical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code with the same seed.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98086" y="5327848"/>
            <a:ext cx="10795524" cy="899021"/>
          </a:xfrm>
          <a:prstGeom prst="roundRect">
            <a:avLst>
              <a:gd name="adj" fmla="val 2767"/>
            </a:avLst>
          </a:prstGeom>
          <a:solidFill>
            <a:srgbClr val="79064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76" y="5552976"/>
            <a:ext cx="207263" cy="1657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6929" y="5526683"/>
            <a:ext cx="1009089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three ciphers are implemented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from scratch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no external cryptographic libraries are used. Every line of encryption logic was written by the student.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84039"/>
            <a:ext cx="10795524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Combine Three Layers?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628676"/>
            <a:ext cx="10795524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layered architecture is a pedagogical choice, not a security guarantee. Each layer teaches a distinct cryptographic concept; their composition demonstrates how transforms can be chained.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98086" y="2265164"/>
            <a:ext cx="10795524" cy="1954014"/>
          </a:xfrm>
          <a:prstGeom prst="roundRect">
            <a:avLst>
              <a:gd name="adj" fmla="val 120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086" y="2695575"/>
            <a:ext cx="10795524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3122811"/>
            <a:ext cx="10795524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3550047"/>
            <a:ext cx="10795524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4436" y="2271514"/>
            <a:ext cx="2695706" cy="424061"/>
          </a:xfrm>
          <a:custGeom>
            <a:avLst/>
            <a:gdLst/>
            <a:ahLst/>
            <a:cxnLst/>
            <a:rect l="l" t="t" r="r" b="b"/>
            <a:pathLst>
              <a:path w="2695706" h="424061">
                <a:moveTo>
                  <a:pt x="19636" y="0"/>
                </a:moveTo>
                <a:lnTo>
                  <a:pt x="2695706" y="0"/>
                </a:lnTo>
                <a:lnTo>
                  <a:pt x="2695706" y="424061"/>
                </a:lnTo>
                <a:lnTo>
                  <a:pt x="0" y="424061"/>
                </a:lnTo>
                <a:lnTo>
                  <a:pt x="0" y="19637"/>
                </a:lnTo>
                <a:arcTo hR="19637" wR="19636" stAng="10800000" swAng="5400000"/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61495" y="2362597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Layer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0142" y="2271514"/>
            <a:ext cx="2695706" cy="42406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557201" y="2362597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Algorithm Class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5848" y="2271514"/>
            <a:ext cx="2695706" cy="42406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252907" y="2362597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Teaching Concept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91553" y="2271514"/>
            <a:ext cx="2695706" cy="424061"/>
          </a:xfrm>
          <a:custGeom>
            <a:avLst/>
            <a:gdLst/>
            <a:ahLst/>
            <a:cxnLst/>
            <a:rect l="l" t="t" r="r" b="b"/>
            <a:pathLst>
              <a:path w="2695706" h="424061">
                <a:moveTo>
                  <a:pt x="0" y="0"/>
                </a:moveTo>
                <a:lnTo>
                  <a:pt x="2676070" y="0"/>
                </a:lnTo>
                <a:arcTo hR="19637" wR="19636" stAng="16200000" swAng="5400000"/>
                <a:lnTo>
                  <a:pt x="2695706" y="424061"/>
                </a:lnTo>
                <a:lnTo>
                  <a:pt x="0" y="424061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948613" y="2362597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Key Parameter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1495" y="2789833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— Caesar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57201" y="2789833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Monoalphabetic substitution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2907" y="2789833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Fixed-shift character substitution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8613" y="2789833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Integer shift (0–127)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1495" y="3217069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— Vigenère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57201" y="3217069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Polyalphabetic substitution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52907" y="3217069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Keyword-driven varying shifts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48613" y="3217069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String keyword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1495" y="3644305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 — Random XOR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57201" y="3644305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 cipher (LCG-based)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52907" y="3644305"/>
            <a:ext cx="2381587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Keystream-based XOR transformation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48613" y="3644305"/>
            <a:ext cx="299117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Numeric seed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8086" y="4519513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Educational Value of Composition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98086" y="4891782"/>
            <a:ext cx="5206175" cy="954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Sequential layering shows how distinct cryptographic principles interact. Observing the intermediate state after each layer makes the contribution of each cipher tangible and measurable — something no single-layer demo can provide.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80677" y="4378226"/>
            <a:ext cx="5432388" cy="1595636"/>
          </a:xfrm>
          <a:prstGeom prst="roundRect">
            <a:avLst>
              <a:gd name="adj" fmla="val 1477"/>
            </a:avLst>
          </a:prstGeom>
          <a:solidFill>
            <a:srgbClr val="252833"/>
          </a:solidFill>
          <a:ln/>
        </p:spPr>
      </p:sp>
      <p:sp>
        <p:nvSpPr>
          <p:cNvPr id="31" name="Text 29"/>
          <p:cNvSpPr/>
          <p:nvPr/>
        </p:nvSpPr>
        <p:spPr>
          <a:xfrm>
            <a:off x="6337737" y="4519513"/>
            <a:ext cx="51182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Critical Clarification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337737" y="4891782"/>
            <a:ext cx="5118270" cy="954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weak classical ciphers do </a:t>
            </a:r>
            <a:pPr algn="l" indent="0" marL="0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NOT</a:t>
            </a:r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compose into military-grade encryption. This system demonstrates </a:t>
            </a:r>
            <a:pPr algn="l" indent="0" marL="0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composition and visualization</a:t>
            </a:r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not cryptographic strength. The educational strength score displayed in the app reflects pedagogical progress, not security assurance.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78322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Application Walkthrough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040632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CyberCrypt Pro presents a </a:t>
            </a:r>
            <a:pPr algn="l" indent="0" marL="0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four-screen workflow</a:t>
            </a:r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that guides users from context-setting through encryption, decryption, and finally analytical reflection. Every screen reinforces the educational objective.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795389"/>
            <a:ext cx="1470385" cy="9087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3922316"/>
            <a:ext cx="253517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 — Dashboard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8086" y="4283670"/>
            <a:ext cx="2535174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 overview, pipeline diagram, and live session statistics. Establishes context before any keys are entered.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436" y="2795389"/>
            <a:ext cx="1470385" cy="9087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1436" y="3922316"/>
            <a:ext cx="253527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— Encrypt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451436" y="4283670"/>
            <a:ext cx="2535273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inputs plaintext and sets three independent keys. Layer-by-layer transformation plays out in real time with intermediate states shown.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86" y="2795389"/>
            <a:ext cx="1470385" cy="9087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04886" y="3922316"/>
            <a:ext cx="253527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 — Decrypt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204886" y="4283670"/>
            <a:ext cx="2535273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Cipher text pasted; keys pre-filled from session. Reverse-order recovery is animated, reinforcing the mathematical inverse relationship.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8336" y="2795389"/>
            <a:ext cx="1470385" cy="9087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58336" y="3922316"/>
            <a:ext cx="253527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 — Analysis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958336" y="4283670"/>
            <a:ext cx="2535273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Session metrics, educational strength score, timeline of operations, and exportable PDF/text reports for review and study.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07529"/>
            <a:ext cx="10795524" cy="4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Learning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8086" y="1396008"/>
            <a:ext cx="11405108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CyberCrypt Pro extends well beyond basic encryption. Eight distinct learning features transform it from a tool into a </a:t>
            </a:r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complete interactive educational environment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899047"/>
            <a:ext cx="296657" cy="296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298" y="1950045"/>
            <a:ext cx="476257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Encryption Visualization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52298" y="2294235"/>
            <a:ext cx="476257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Watch each character transform as the cipher applies — no black boxes.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765921"/>
            <a:ext cx="296657" cy="296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2298" y="2816920"/>
            <a:ext cx="476257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Layer-by-Layer Pipeline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52298" y="3161109"/>
            <a:ext cx="476257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Intermediate states after each cipher layer are surfaced and labeled.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632795"/>
            <a:ext cx="296657" cy="296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2298" y="3683794"/>
            <a:ext cx="476257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Step Details &amp; Explanations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52298" y="4027984"/>
            <a:ext cx="476257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Contextual explanations accompany every transformation step.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499670"/>
            <a:ext cx="296657" cy="2966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2298" y="4550668"/>
            <a:ext cx="476257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Analysis Dashboard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152298" y="4894858"/>
            <a:ext cx="4762579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Educational strength score, vulnerability notes, and layer comparison metrics.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3168" y="1899047"/>
            <a:ext cx="296657" cy="2966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37380" y="1950045"/>
            <a:ext cx="476257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 Flowcharts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737380" y="2294235"/>
            <a:ext cx="476257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Built-in system diagrams explaining the four-layer structure visually.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3168" y="2765921"/>
            <a:ext cx="296657" cy="29666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37380" y="2816920"/>
            <a:ext cx="476257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Presentation Mode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737380" y="3161109"/>
            <a:ext cx="476257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Distraction-free display designed for classroom or viva demonstration.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3168" y="3632795"/>
            <a:ext cx="296657" cy="29666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37380" y="3683794"/>
            <a:ext cx="476257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Viva Q&amp;A Mode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6737380" y="4027984"/>
            <a:ext cx="476257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Pre-loaded examination questions with structured answer prompts.</a:t>
            </a:r>
            <a:endParaRPr lang="en-US" sz="11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83168" y="4499670"/>
            <a:ext cx="296657" cy="29666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737380" y="4550668"/>
            <a:ext cx="476257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Guide &amp; Shortcuts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6737380" y="4894858"/>
            <a:ext cx="476257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Integrated reference manual and keyboard shortcuts for efficient navigation.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698086" y="5617369"/>
            <a:ext cx="10795524" cy="533003"/>
          </a:xfrm>
          <a:prstGeom prst="roundRect">
            <a:avLst>
              <a:gd name="adj" fmla="val 4175"/>
            </a:avLst>
          </a:prstGeom>
          <a:solidFill>
            <a:srgbClr val="790645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414" y="5796657"/>
            <a:ext cx="185435" cy="14833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180178" y="5780484"/>
            <a:ext cx="10774688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Encrypt + Visualize + Analyze + Explain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four verbs that define the complete interactive learning experience CyberCrypt Pro delivers.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5944"/>
            <a:ext cx="10795524" cy="4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Testing &amp; Verification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8086" y="1254423"/>
            <a:ext cx="11405108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cryptographic core is backed by a structured test suite ensuring correctness, invertibility, and edge-case robustness — entirely decoupled from the GUI.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89295" y="1831578"/>
            <a:ext cx="4434273" cy="489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54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698086" y="2489895"/>
            <a:ext cx="521679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Tests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8086" y="2834084"/>
            <a:ext cx="5216791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suite covering all three cipher layers and integration scenarios.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89295" y="3379887"/>
            <a:ext cx="4434273" cy="489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698086" y="4038203"/>
            <a:ext cx="521679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Cipher Layers Tested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8086" y="4382393"/>
            <a:ext cx="5216791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Caesar, Vigenère, and Random XOR each have dedicated unit tests.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89295" y="4928195"/>
            <a:ext cx="4434273" cy="489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100%</a:t>
            </a:r>
            <a:endParaRPr lang="en-US" sz="3850" dirty="0"/>
          </a:p>
        </p:txBody>
      </p:sp>
      <p:sp>
        <p:nvSpPr>
          <p:cNvPr id="11" name="Text 9"/>
          <p:cNvSpPr/>
          <p:nvPr/>
        </p:nvSpPr>
        <p:spPr>
          <a:xfrm>
            <a:off x="698086" y="5586512"/>
            <a:ext cx="521679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Invertibility Verified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8086" y="5930702"/>
            <a:ext cx="5216791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test confirms that decrypt(encrypt(x)) = x for all inputs.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83168" y="1741785"/>
            <a:ext cx="521679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 Categories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3168" y="2101652"/>
            <a:ext cx="2545294" cy="133737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26744" y="2269034"/>
            <a:ext cx="213434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Unit Tests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526744" y="2613223"/>
            <a:ext cx="213434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Individual cipher functions tested in isolation with known input-output pairs.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4566" y="2101652"/>
            <a:ext cx="2545393" cy="133737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98142" y="2269034"/>
            <a:ext cx="213444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Roundtrip Tests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9198142" y="2613223"/>
            <a:ext cx="2134440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Encrypt → Decrypt cycle verified to recover exact original plaintext.</a:t>
            </a:r>
            <a:endParaRPr lang="en-US" sz="11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168" y="3565128"/>
            <a:ext cx="2545294" cy="133737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26744" y="3732510"/>
            <a:ext cx="213434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Edge Case Tests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526744" y="4076700"/>
            <a:ext cx="213434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Empty strings, boundary ASCII values, maximum shift values, single characters.</a:t>
            </a:r>
            <a:endParaRPr lang="en-US" sz="11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4566" y="3565128"/>
            <a:ext cx="2545393" cy="133737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98142" y="3732510"/>
            <a:ext cx="213444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Integration Tests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198142" y="4076700"/>
            <a:ext cx="213444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three-layer pipeline tested end-to-end without GUI involvement.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05656"/>
            <a:ext cx="10795524" cy="4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Limitations &amp; Conclusion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98086" y="1572816"/>
            <a:ext cx="1288125" cy="225326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7083" y="1617266"/>
            <a:ext cx="1719716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HONEST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8086" y="1848545"/>
            <a:ext cx="521679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Known Limitations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3647" y="2212975"/>
            <a:ext cx="222542" cy="2225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0178" y="2208411"/>
            <a:ext cx="473470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Classical ciphers only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0178" y="2552601"/>
            <a:ext cx="4734700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Caesar, Vigenère, and LCG-XOR are historically significant but cryptographically broken by modern standards.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647" y="3248323"/>
            <a:ext cx="222542" cy="2225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0178" y="3243759"/>
            <a:ext cx="473470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authenticated encryption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80178" y="3587948"/>
            <a:ext cx="4734700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provides no integrity verification — a modified ciphertext will silently decrypt to garbage.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3647" y="4283670"/>
            <a:ext cx="222542" cy="2225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0178" y="4279106"/>
            <a:ext cx="473470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LCG is not cryptographically secure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180178" y="4623296"/>
            <a:ext cx="4734700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Linear Congruential Generators are predictable given sufficient output — unsuitable for real key generation.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647" y="5319018"/>
            <a:ext cx="222542" cy="2225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0178" y="5314454"/>
            <a:ext cx="473470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Desktop-only, offline scope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80178" y="5658644"/>
            <a:ext cx="4734700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network protocol, no key exchange, no multi-user capability by design.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176312" y="1431032"/>
            <a:ext cx="5430503" cy="4621312"/>
          </a:xfrm>
          <a:prstGeom prst="roundRect">
            <a:avLst>
              <a:gd name="adj" fmla="val 482"/>
            </a:avLst>
          </a:prstGeom>
          <a:solidFill>
            <a:srgbClr val="252833"/>
          </a:solidFill>
          <a:ln/>
        </p:spPr>
      </p:sp>
      <p:sp>
        <p:nvSpPr>
          <p:cNvPr id="19" name="Shape 13"/>
          <p:cNvSpPr/>
          <p:nvPr/>
        </p:nvSpPr>
        <p:spPr>
          <a:xfrm>
            <a:off x="6324640" y="1572816"/>
            <a:ext cx="1326422" cy="225326"/>
          </a:xfrm>
          <a:prstGeom prst="roundRect">
            <a:avLst>
              <a:gd name="adj" fmla="val 7901"/>
            </a:avLst>
          </a:prstGeom>
          <a:solidFill>
            <a:srgbClr val="49042A"/>
          </a:solidFill>
          <a:ln/>
        </p:spPr>
      </p:sp>
      <p:sp>
        <p:nvSpPr>
          <p:cNvPr id="20" name="Text 14"/>
          <p:cNvSpPr/>
          <p:nvPr/>
        </p:nvSpPr>
        <p:spPr>
          <a:xfrm>
            <a:off x="6413637" y="1617266"/>
            <a:ext cx="1758013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 CONCLUSION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324640" y="1848545"/>
            <a:ext cx="5133847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CyberCrypt Pro Achieves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324640" y="2192734"/>
            <a:ext cx="5133847" cy="991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CyberCrypt Pro successfully delivers a </a:t>
            </a:r>
            <a:pPr algn="l" indent="0" marL="0">
              <a:lnSpc>
                <a:spcPct val="123000"/>
              </a:lnSpc>
              <a:spcAft>
                <a:spcPts val="850"/>
              </a:spcAft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transparent, interactive cryptography learning environment</a:t>
            </a:r>
            <a:pPr algn="l" indent="0" marL="0">
              <a:lnSpc>
                <a:spcPct val="123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By exposing every intermediate transformation, it converts abstract mathematical operations into visible, tangible experiences.</a:t>
            </a:r>
            <a:endParaRPr lang="en-US" sz="11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project demonstrates: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324640" y="3297436"/>
            <a:ext cx="5133847" cy="1273572"/>
          </a:xfrm>
          <a:prstGeom prst="rect">
            <a:avLst/>
          </a:prstGeom>
          <a:noFill/>
          <a:ln/>
        </p:spPr>
        <p:txBody>
          <a:bodyPr wrap="square" lIns="0" tIns="59345" rIns="0" bIns="0" rtlCol="0" anchor="t">
            <a:normAutofit/>
          </a:bodyPr>
          <a:lstStyle/>
          <a:p>
            <a:pPr algn="l" marL="233680" indent="-233680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from-scratch cipher implementations</a:t>
            </a:r>
            <a:endParaRPr lang="en-US" sz="1150" dirty="0"/>
          </a:p>
          <a:p>
            <a:pPr algn="l" marL="233680" indent="-233680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 four-layer decoupled architecture</a:t>
            </a:r>
            <a:endParaRPr lang="en-US" sz="1150" dirty="0"/>
          </a:p>
          <a:p>
            <a:pPr algn="l" marL="233680" indent="-233680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54 automated tests confirming correctness</a:t>
            </a:r>
            <a:endParaRPr lang="en-US" sz="1150" dirty="0"/>
          </a:p>
          <a:p>
            <a:pPr algn="l" marL="233680" indent="-233680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Eight interactive educational features</a:t>
            </a:r>
            <a:endParaRPr lang="en-US" sz="1150" dirty="0"/>
          </a:p>
          <a:p>
            <a:pPr algn="l" marL="233680" indent="-233680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Glassmorphism UI matching the domain aesthetic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324640" y="4684415"/>
            <a:ext cx="513384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educational honesty of clearly positioning this as a </a:t>
            </a:r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classical cryptography demonstration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rather than overstating its security properties — is itself a lesson in responsible engineering communication.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324640" y="5521623"/>
            <a:ext cx="5133847" cy="1905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019848" y="5719465"/>
            <a:ext cx="5743431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2026-08-21T07:18:20Z</dcterms:created>
  <dcterms:modified xsi:type="dcterms:W3CDTF">2026-08-21T07:18:20Z</dcterms:modified>
</cp:coreProperties>
</file>